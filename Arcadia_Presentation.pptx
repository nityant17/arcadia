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411480"/>
          </a:xfrm>
          <a:prstGeom prst="rect">
            <a:avLst/>
          </a:prstGeom>
          <a:solidFill>
            <a:srgbClr val="0D1929"/>
          </a:solidFill>
          <a:ln w="12700">
            <a:solidFill>
              <a:srgbClr val="0D19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6576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4A3B8"/>
                </a:solidFill>
              </a:rPr>
              <a:t>AI UNLOCKED 2025  ·  TRACK 3: AI STUDY BUDDY  ·  TEAM ECHELON, MIT MANIPAL  ·  POWERED BY MICROSOFT AZURE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Arcadia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Adaptive Mastery Engine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084832"/>
            <a:ext cx="2377440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8483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  PROBLEM STATEMENT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54203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across India face fragmented, one-size-fits-all learning that ignores individual needs, language barriers, and real mastery.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68580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24612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100M+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34440" y="32552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Students study in regional languages — locked out by English-only AI tools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584448"/>
            <a:ext cx="68580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58444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34440" y="35935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Personalised feedback from Quizlet, ChatGPT, or Notion AI on YOUR notes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922776"/>
            <a:ext cx="68580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92277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234440" y="39319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adaptive quiz to distinguish "familiar" from "truly understood"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261104"/>
            <a:ext cx="68580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26110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Hours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234440" y="42702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wasted re-reading passively, with no structured feedback loop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599432"/>
            <a:ext cx="685800" cy="25603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59943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Azure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234440" y="460857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</a:rPr>
              <a:t>AI services now make scalable, multilingual, privacy-ready EdTech viable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760720" y="411480"/>
            <a:ext cx="3200400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5943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B8A6"/>
                </a:solidFill>
              </a:rPr>
              <a:t>THE OPPORTUNITY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43600" y="1051560"/>
            <a:ext cx="2834640" cy="109728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89320" y="1106424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500M+</a:t>
            </a:r>
            <a:endParaRPr lang="en-US" sz="4200" dirty="0"/>
          </a:p>
        </p:txBody>
      </p:sp>
      <p:sp>
        <p:nvSpPr>
          <p:cNvPr id="29" name="Text 27"/>
          <p:cNvSpPr/>
          <p:nvPr/>
        </p:nvSpPr>
        <p:spPr>
          <a:xfrm>
            <a:off x="5989320" y="1645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Learners in India —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the target addressable market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943600" y="2377440"/>
            <a:ext cx="2834640" cy="109728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89320" y="2432304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100M+</a:t>
            </a:r>
            <a:endParaRPr lang="en-US" sz="4200" dirty="0"/>
          </a:p>
        </p:txBody>
      </p:sp>
      <p:sp>
        <p:nvSpPr>
          <p:cNvPr id="32" name="Text 30"/>
          <p:cNvSpPr/>
          <p:nvPr/>
        </p:nvSpPr>
        <p:spPr>
          <a:xfrm>
            <a:off x="598932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Students in vernacular-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medium schools need this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943600" y="3703320"/>
            <a:ext cx="2834640" cy="109728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89320" y="3758184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58M</a:t>
            </a:r>
            <a:endParaRPr lang="en-US" sz="4200" dirty="0"/>
          </a:p>
        </p:txBody>
      </p:sp>
      <p:sp>
        <p:nvSpPr>
          <p:cNvPr id="35" name="Text 33"/>
          <p:cNvSpPr/>
          <p:nvPr/>
        </p:nvSpPr>
        <p:spPr>
          <a:xfrm>
            <a:off x="5989320" y="4297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Undergrads with no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adaptive AI study tool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760720" y="48920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Sources: UDISE+ 2023 · AISHE 2022 · FICCI EdTech 2023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B8A6"/>
                </a:solidFill>
              </a:rPr>
              <a:t>02  SOLUTION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What have we built?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Arcadia</a:t>
            </a:r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full-stack AI study companion built on </a:t>
            </a:r>
            <a:pPr indent="0" marL="0">
              <a:buNone/>
            </a:pPr>
            <a:r>
              <a:rPr lang="en-US" sz="13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 AI</a:t>
            </a:r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transforming any uploaded document into an interactive, multilingual, adaptive learning experience.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128016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810512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225856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RAG-Based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Knowledge Retrieval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11480" y="265176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Azure AI Search vectorises every uploaded note/PDF into a queryable knowledge base.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783080" y="1737360"/>
            <a:ext cx="128016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848" y="1810512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225856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Adaptive Mastery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Quizzing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828800" y="265176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GPT-4o powers a 3-tier quiz engine (Recall → Application → Analysis) via Bloom's Taxonomy.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200400" y="1737360"/>
            <a:ext cx="128016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0168" y="1810512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246120" y="225856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Multilingual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Accessibility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3246120" y="265176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Azure AI Speech + Translator: neural TTS and live re-translation in 9 Indian languages.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365760" y="35021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4B8A6"/>
                </a:solidFill>
              </a:rPr>
              <a:t>CORE WORKFLOW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365760" y="3794760"/>
            <a:ext cx="6858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365760" y="379476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Upload Doc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051560" y="3904488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B8A6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1188720" y="3794760"/>
            <a:ext cx="6858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1188720" y="379476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GPT-4o OCR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874520" y="3904488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B8A6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2011680" y="3794760"/>
            <a:ext cx="685800" cy="5029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2011680" y="379476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Azure RAG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2697480" y="3904488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B8A6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2834640" y="3794760"/>
            <a:ext cx="6858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Text 24"/>
          <p:cNvSpPr/>
          <p:nvPr/>
        </p:nvSpPr>
        <p:spPr>
          <a:xfrm>
            <a:off x="2834640" y="379476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Multi-lang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3520440" y="3904488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B8A6"/>
                </a:solidFill>
              </a:rPr>
              <a:t>→</a:t>
            </a:r>
            <a:endParaRPr lang="en-US" sz="1400" dirty="0"/>
          </a:p>
        </p:txBody>
      </p:sp>
      <p:sp>
        <p:nvSpPr>
          <p:cNvPr id="31" name="Shape 26"/>
          <p:cNvSpPr/>
          <p:nvPr/>
        </p:nvSpPr>
        <p:spPr>
          <a:xfrm>
            <a:off x="3657600" y="3794760"/>
            <a:ext cx="6858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Text 27"/>
          <p:cNvSpPr/>
          <p:nvPr/>
        </p:nvSpPr>
        <p:spPr>
          <a:xfrm>
            <a:off x="3657600" y="379476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Track Mastery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4709160" y="749808"/>
            <a:ext cx="4251960" cy="4251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4" name="Text 29"/>
          <p:cNvSpPr/>
          <p:nvPr/>
        </p:nvSpPr>
        <p:spPr>
          <a:xfrm>
            <a:off x="4892040" y="8778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4B8A6"/>
                </a:solidFill>
              </a:rPr>
              <a:t>WHAT MAKES ARCADIA DISTINCT</a:t>
            </a:r>
            <a:endParaRPr lang="en-US" sz="1000" dirty="0"/>
          </a:p>
        </p:txBody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261872"/>
            <a:ext cx="347472" cy="347472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5321808" y="1261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Azure-Powered at Every Layer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5321808" y="153619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GPT-4o Vision, Azure AI Search, Azure AI Speech, Translator, and Cosmos DB — the full Azure AI stack in one app.</a:t>
            </a:r>
            <a:endParaRPr lang="en-US" sz="1000" dirty="0"/>
          </a:p>
        </p:txBody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2176272"/>
            <a:ext cx="347472" cy="347472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5321808" y="21762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Context-Aware, Not Generic AI</a:t>
            </a:r>
            <a:endParaRPr lang="en-US" sz="1200" dirty="0"/>
          </a:p>
        </p:txBody>
      </p:sp>
      <p:sp>
        <p:nvSpPr>
          <p:cNvPr id="40" name="Text 33"/>
          <p:cNvSpPr/>
          <p:nvPr/>
        </p:nvSpPr>
        <p:spPr>
          <a:xfrm>
            <a:off x="5321808" y="245059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Every feature is grounded in YOUR uploaded document via Azure AI Search RAG — your notes, your knowledge base.</a:t>
            </a:r>
            <a:endParaRPr lang="en-US" sz="1000" dirty="0"/>
          </a:p>
        </p:txBody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090672"/>
            <a:ext cx="347472" cy="347472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5321808" y="30906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Live Re-Translation (Azure)</a:t>
            </a:r>
            <a:endParaRPr lang="en-US" sz="1200" dirty="0"/>
          </a:p>
        </p:txBody>
      </p:sp>
      <p:sp>
        <p:nvSpPr>
          <p:cNvPr id="43" name="Text 35"/>
          <p:cNvSpPr/>
          <p:nvPr/>
        </p:nvSpPr>
        <p:spPr>
          <a:xfrm>
            <a:off x="5321808" y="336499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Azure Translator re-translates ALL existing chat messages on language switch — not just new content.</a:t>
            </a:r>
            <a:endParaRPr lang="en-US" sz="1000" dirty="0"/>
          </a:p>
        </p:txBody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4005072"/>
            <a:ext cx="347472" cy="347472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5321808" y="40050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Bloom's Taxonomy Quizzing</a:t>
            </a:r>
            <a:endParaRPr lang="en-US" sz="1200" dirty="0"/>
          </a:p>
        </p:txBody>
      </p:sp>
      <p:sp>
        <p:nvSpPr>
          <p:cNvPr id="46" name="Text 37"/>
          <p:cNvSpPr/>
          <p:nvPr/>
        </p:nvSpPr>
        <p:spPr>
          <a:xfrm>
            <a:off x="5321808" y="427939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GPT-4o generates Recall→Application→Analysis tiers with weighted mastery scoring (0.6×old + 0.4×new).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0D18"/>
          </a:solidFill>
          <a:ln w="12700">
            <a:solidFill>
              <a:srgbClr val="060D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B8A6"/>
                </a:solidFill>
              </a:rPr>
              <a:t>03  KEY FEATURES &amp; USER 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How does it work end to end?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260604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22960"/>
            <a:ext cx="73152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91440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86968" y="9144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RAG Chat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84632" y="130759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GPT-4o + Azure AI Search: answers grounded in YOUR notes. 384-dim embeddings, cosine similarity, top-6 chunk retrieval.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108960" y="822960"/>
            <a:ext cx="260604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108960" y="822960"/>
            <a:ext cx="73152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3552" y="91440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75888" y="9144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Adaptive Quiz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273552" y="130759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GPT-4o generates 3-tier MCQs: Recall (70% threshold) → Application (80%) → Analysis. Weighted mastery score.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320040" y="2194560"/>
            <a:ext cx="260604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20040" y="2194560"/>
            <a:ext cx="73152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2286000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86968" y="22860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9 Indic Languages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84632" y="267919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Azure AI Translator localises all content. Azure AI Speech (neural TTS) reads aloud in Hindi, Tamil, Telugu &amp; 6 more.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3108960" y="2194560"/>
            <a:ext cx="260604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108960" y="2194560"/>
            <a:ext cx="73152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3552" y="2286000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3675888" y="22860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TTS Toggle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3273552" y="267919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Azure Neural TTS voices on every message. Click speaker to play, click again to stop. MD5-cached for low latency.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320040" y="3566160"/>
            <a:ext cx="260604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20040" y="3566160"/>
            <a:ext cx="73152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" y="3657600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86968" y="36576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Study Materials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484632" y="405079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GPT-4o auto-generates cheatsheets (Markdown), spaced-repetition flashcard decks, and Mermaid.js concept diagrams.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3108960" y="3566160"/>
            <a:ext cx="260604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3108960" y="3566160"/>
            <a:ext cx="73152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3552" y="3657600"/>
            <a:ext cx="347472" cy="34747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675888" y="36576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Mastery Dashboard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3273552" y="405079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Azure Cosmos DB stores quiz scores, flashcard accuracy, and topic confidence. Bar charts + tier badges.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5852160" y="749808"/>
            <a:ext cx="3108960" cy="4251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6" name="Text 28"/>
          <p:cNvSpPr/>
          <p:nvPr/>
        </p:nvSpPr>
        <p:spPr>
          <a:xfrm>
            <a:off x="6035040" y="8778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B8A6"/>
                </a:solidFill>
              </a:rPr>
              <a:t>USER FLOW</a:t>
            </a:r>
            <a:endParaRPr lang="en-US" sz="1000" dirty="0"/>
          </a:p>
        </p:txBody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5040" y="1298448"/>
            <a:ext cx="274320" cy="27432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400800" y="126187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1. Upload</a:t>
            </a:r>
            <a:endParaRPr lang="en-US" sz="1100" dirty="0"/>
          </a:p>
        </p:txBody>
      </p:sp>
      <p:sp>
        <p:nvSpPr>
          <p:cNvPr id="39" name="Text 30"/>
          <p:cNvSpPr/>
          <p:nvPr/>
        </p:nvSpPr>
        <p:spPr>
          <a:xfrm>
            <a:off x="6400800" y="150876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PDF / Handwritten Image / Text</a:t>
            </a:r>
            <a:endParaRPr lang="en-US" sz="950" dirty="0"/>
          </a:p>
        </p:txBody>
      </p:sp>
      <p:sp>
        <p:nvSpPr>
          <p:cNvPr id="40" name="Shape 31"/>
          <p:cNvSpPr/>
          <p:nvPr/>
        </p:nvSpPr>
        <p:spPr>
          <a:xfrm>
            <a:off x="6144768" y="1618488"/>
            <a:ext cx="0" cy="256032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</a:ln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5040" y="1901952"/>
            <a:ext cx="274320" cy="27432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6400800" y="186537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2. GPT-4o Vision OCR</a:t>
            </a:r>
            <a:endParaRPr lang="en-US" sz="1100" dirty="0"/>
          </a:p>
        </p:txBody>
      </p:sp>
      <p:sp>
        <p:nvSpPr>
          <p:cNvPr id="43" name="Text 33"/>
          <p:cNvSpPr/>
          <p:nvPr/>
        </p:nvSpPr>
        <p:spPr>
          <a:xfrm>
            <a:off x="6400800" y="2112264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Azure Form Recogniser + extract</a:t>
            </a:r>
            <a:endParaRPr lang="en-US" sz="950" dirty="0"/>
          </a:p>
        </p:txBody>
      </p:sp>
      <p:sp>
        <p:nvSpPr>
          <p:cNvPr id="44" name="Shape 34"/>
          <p:cNvSpPr/>
          <p:nvPr/>
        </p:nvSpPr>
        <p:spPr>
          <a:xfrm>
            <a:off x="6144768" y="2221992"/>
            <a:ext cx="0" cy="256032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</a:ln>
        </p:spPr>
      </p:sp>
      <p:pic>
        <p:nvPicPr>
          <p:cNvPr id="4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35040" y="2505456"/>
            <a:ext cx="274320" cy="274320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6400800" y="24688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3. Azure AI Search</a:t>
            </a:r>
            <a:endParaRPr lang="en-US" sz="1100" dirty="0"/>
          </a:p>
        </p:txBody>
      </p:sp>
      <p:sp>
        <p:nvSpPr>
          <p:cNvPr id="47" name="Text 36"/>
          <p:cNvSpPr/>
          <p:nvPr/>
        </p:nvSpPr>
        <p:spPr>
          <a:xfrm>
            <a:off x="6400800" y="271576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Vector index — RAG pipeline</a:t>
            </a:r>
            <a:endParaRPr lang="en-US" sz="950" dirty="0"/>
          </a:p>
        </p:txBody>
      </p:sp>
      <p:sp>
        <p:nvSpPr>
          <p:cNvPr id="48" name="Shape 37"/>
          <p:cNvSpPr/>
          <p:nvPr/>
        </p:nvSpPr>
        <p:spPr>
          <a:xfrm>
            <a:off x="6144768" y="2825496"/>
            <a:ext cx="0" cy="256032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</a:ln>
        </p:spPr>
      </p:sp>
      <p:pic>
        <p:nvPicPr>
          <p:cNvPr id="4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35040" y="3108960"/>
            <a:ext cx="274320" cy="274320"/>
          </a:xfrm>
          <a:prstGeom prst="rect">
            <a:avLst/>
          </a:prstGeom>
        </p:spPr>
      </p:pic>
      <p:sp>
        <p:nvSpPr>
          <p:cNvPr id="50" name="Text 38"/>
          <p:cNvSpPr/>
          <p:nvPr/>
        </p:nvSpPr>
        <p:spPr>
          <a:xfrm>
            <a:off x="6400800" y="307238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4. Chat &amp; Quiz</a:t>
            </a:r>
            <a:endParaRPr lang="en-US" sz="1100" dirty="0"/>
          </a:p>
        </p:txBody>
      </p:sp>
      <p:sp>
        <p:nvSpPr>
          <p:cNvPr id="51" name="Text 39"/>
          <p:cNvSpPr/>
          <p:nvPr/>
        </p:nvSpPr>
        <p:spPr>
          <a:xfrm>
            <a:off x="6400800" y="331927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GPT-4o answers + adaptive mastery</a:t>
            </a:r>
            <a:endParaRPr lang="en-US" sz="950" dirty="0"/>
          </a:p>
        </p:txBody>
      </p:sp>
      <p:sp>
        <p:nvSpPr>
          <p:cNvPr id="52" name="Shape 40"/>
          <p:cNvSpPr/>
          <p:nvPr/>
        </p:nvSpPr>
        <p:spPr>
          <a:xfrm>
            <a:off x="6144768" y="3429000"/>
            <a:ext cx="0" cy="256032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</a:ln>
        </p:spPr>
      </p:sp>
      <p:pic>
        <p:nvPicPr>
          <p:cNvPr id="5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35040" y="3712464"/>
            <a:ext cx="274320" cy="274320"/>
          </a:xfrm>
          <a:prstGeom prst="rect">
            <a:avLst/>
          </a:prstGeom>
        </p:spPr>
      </p:pic>
      <p:sp>
        <p:nvSpPr>
          <p:cNvPr id="54" name="Text 41"/>
          <p:cNvSpPr/>
          <p:nvPr/>
        </p:nvSpPr>
        <p:spPr>
          <a:xfrm>
            <a:off x="6400800" y="367588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5. Localise</a:t>
            </a:r>
            <a:endParaRPr lang="en-US" sz="1100" dirty="0"/>
          </a:p>
        </p:txBody>
      </p:sp>
      <p:sp>
        <p:nvSpPr>
          <p:cNvPr id="55" name="Text 42"/>
          <p:cNvSpPr/>
          <p:nvPr/>
        </p:nvSpPr>
        <p:spPr>
          <a:xfrm>
            <a:off x="6400800" y="3922776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Azure Translator + Neural TTS</a:t>
            </a:r>
            <a:endParaRPr lang="en-US" sz="950" dirty="0"/>
          </a:p>
        </p:txBody>
      </p:sp>
      <p:sp>
        <p:nvSpPr>
          <p:cNvPr id="56" name="Shape 43"/>
          <p:cNvSpPr/>
          <p:nvPr/>
        </p:nvSpPr>
        <p:spPr>
          <a:xfrm>
            <a:off x="6144768" y="4032504"/>
            <a:ext cx="0" cy="256032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</a:ln>
        </p:spPr>
      </p:sp>
      <p:pic>
        <p:nvPicPr>
          <p:cNvPr id="5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35040" y="4315968"/>
            <a:ext cx="274320" cy="274320"/>
          </a:xfrm>
          <a:prstGeom prst="rect">
            <a:avLst/>
          </a:prstGeom>
        </p:spPr>
      </p:pic>
      <p:sp>
        <p:nvSpPr>
          <p:cNvPr id="58" name="Text 44"/>
          <p:cNvSpPr/>
          <p:nvPr/>
        </p:nvSpPr>
        <p:spPr>
          <a:xfrm>
            <a:off x="6400800" y="427939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6. Track (Cosmos DB)</a:t>
            </a:r>
            <a:endParaRPr lang="en-US" sz="1100" dirty="0"/>
          </a:p>
        </p:txBody>
      </p:sp>
      <p:sp>
        <p:nvSpPr>
          <p:cNvPr id="59" name="Text 45"/>
          <p:cNvSpPr/>
          <p:nvPr/>
        </p:nvSpPr>
        <p:spPr>
          <a:xfrm>
            <a:off x="6400800" y="452628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Dashboard + mastery analytics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B8A6"/>
                </a:solidFill>
              </a:rPr>
              <a:t>04  ARCHITECTURE &amp; TECHNOLOGY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How is the prototype built?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2560320" cy="347472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749808"/>
            <a:ext cx="2560320" cy="3657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7498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INPUT LAYER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9768" y="1188720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</a:rPr>
              <a:t>📁  PDF / Image / Text upload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29768" y="1664208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📷  Handwriting (GPT-4o Vision)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29768" y="2139696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</a:rPr>
              <a:t>🎙️  Voice input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29768" y="2615184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📄  Structured PDF (Form Recogniser)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898648" y="228600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8D4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108960" y="749808"/>
            <a:ext cx="2560320" cy="3474720"/>
          </a:xfrm>
          <a:prstGeom prst="rect">
            <a:avLst/>
          </a:prstGeom>
          <a:solidFill>
            <a:srgbClr val="0C1E35"/>
          </a:solidFill>
          <a:ln w="12700">
            <a:solidFill>
              <a:srgbClr val="0078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08960" y="749808"/>
            <a:ext cx="2560320" cy="3657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08960" y="7498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⚙ AZURE AI ENGINE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18688" y="1188720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</a:rPr>
              <a:t>Azure OpenAI — GPT-4o Vision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18688" y="1664208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Azure AI Search (vector RAG)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218688" y="2139696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</a:rPr>
              <a:t>Azure AI Speech — Neural TTS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218688" y="2615184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Azure AI Translator (9 languages)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218688" y="3090672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</a:rPr>
              <a:t>Azure Cosmos DB + Redis Cache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18688" y="3566160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LangChain + FastAPI orchestration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687568" y="228600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8D4"/>
                </a:solidFill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897880" y="749808"/>
            <a:ext cx="2560320" cy="347472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97880" y="749808"/>
            <a:ext cx="2560320" cy="3657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7498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OUTPUT FEATURES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007608" y="1188720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</a:rPr>
              <a:t>💬  RAG Contextual Chat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007608" y="1664208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📝  Adaptive Quiz + Mastery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007608" y="2139696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</a:rPr>
              <a:t>📋  Cheatsheets + Flashcards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007608" y="2615184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🗺️  Mermaid.js Diagrams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007608" y="3090672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</a:rPr>
              <a:t>🌐  Live Multilingual Content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007608" y="3566160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📊  Cosmos DB Mastery Dashboard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0040" y="4315968"/>
            <a:ext cx="854964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4074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78D4"/>
                </a:solidFill>
              </a:rPr>
              <a:t>AZURE STACK: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572768" y="440740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</a:rPr>
              <a:t>GPT-4o Vision  ·  Azure AI Search  ·  Azure AI Speech (Neural TTS)  ·  Azure AI Translator  ·  Azure Cosmos DB  ·  Azure Redis  ·  Azure Blob + CDN  ·  Azure App Service  ·  LangChain + FastAPI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0D18"/>
          </a:solidFill>
          <a:ln w="12700">
            <a:solidFill>
              <a:srgbClr val="060D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B8A6"/>
                </a:solidFill>
              </a:rPr>
              <a:t>05  DESIGN DECISIONS &amp; TRADE-OFFS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Why did we build it this way?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5029200" cy="2743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498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FEATURES PRIORITISED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502920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97280"/>
            <a:ext cx="64008" cy="56692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13385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Azure OpenAI (GPT-4o) as Core LLM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13716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Multilingual + vision + reasoning in one API. Handles OCR, quiz generation, chat, and diagram creation end-to-end.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1737360"/>
            <a:ext cx="502920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737360"/>
            <a:ext cx="64008" cy="56692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177393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Azure AI Search for RAG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" y="20116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Makes every uploaded note instantly queryable. Core to the personalised 'your own notes' RAG experience — no retraining needed.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2377440"/>
            <a:ext cx="502920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377440"/>
            <a:ext cx="64008" cy="56692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41401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Azure AI Speech + Translator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" y="265176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Neural Indic voices (Hindi, Tamil, Telugu, Marathi) are the accessibility cornerstone. Non-negotiable for vernacular learners.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017520"/>
            <a:ext cx="502920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017520"/>
            <a:ext cx="64008" cy="56692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305409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Azure Cosmos DB + Redis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" y="329184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Globally distributed, low-latency mastery tracking. Redis enables sub-millisecond session context for a fluid chat experience.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3657600"/>
            <a:ext cx="502920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3657600"/>
            <a:ext cx="64008" cy="56692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369417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Bloom's Taxonomy 3-tier quiz engine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" y="39319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GPT-4o generates Recall → Application → Analysis tiers. Weighted average (0.6×old + 0.4×new) prevents lucky streaks.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532120" y="749808"/>
            <a:ext cx="3291840" cy="1600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32120" y="749808"/>
            <a:ext cx="329184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32120" y="7498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INTENTIONALLY DROPPED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623560" y="10972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✕  Collaborative rooms — real-time sync complexity; deferred to v2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623560" y="148132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✕  Spaced repetition (SM-2) — Cosmos DB-backed; planned for v1.3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623560" y="186537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✕  Video-source RAG — Azure Video Indexer; Phase 2 feature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532120" y="2487168"/>
            <a:ext cx="329184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532120" y="2487168"/>
            <a:ext cx="329184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32120" y="24871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TECHNICAL CONSTRAINTS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623560" y="2834640"/>
            <a:ext cx="91440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23560" y="28346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Dev fallback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601968" y="2852928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Ollama used offline in dev only — production is fully Azure OpenAI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623560" y="3218688"/>
            <a:ext cx="91440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23560" y="32186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Azure TTS limit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601968" y="3236976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Neural TTS capped at 500 chars/call; long answers are chunked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623560" y="3602736"/>
            <a:ext cx="91440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23560" y="36027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Cosmos DB scale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601968" y="362102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Auto-scales for exam-season spikes; pay-per-use cost model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623560" y="3986784"/>
            <a:ext cx="91440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23560" y="398678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Chunk tuning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601968" y="4005072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300 tok / 60 overlap tuned for Azure AI Search precision &amp; recall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B8A6"/>
                </a:solidFill>
              </a:rPr>
              <a:t>06  CURRENT STATUS &amp; NEXT STEPS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Where we are now, and what comes next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502920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498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  FULLY FUNCTIONAL</a:t>
            </a:r>
            <a:endParaRPr lang="en-US" sz="1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" y="1170432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115214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</a:rPr>
              <a:t>GPT-4o Vision OCR (PDF, images, handwriting)</a:t>
            </a:r>
            <a:endParaRPr lang="en-US" sz="9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1591056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15727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</a:rPr>
              <a:t>RAG chat via Azure AI Search + GPT-4o</a:t>
            </a:r>
            <a:endParaRPr lang="en-US" sz="9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2011680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85800" y="199339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</a:rPr>
              <a:t>3-tier adaptive quiz with mastery tracking</a:t>
            </a:r>
            <a:endParaRPr lang="en-US" sz="9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" y="2432304"/>
            <a:ext cx="219456" cy="21945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85800" y="241401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</a:rPr>
              <a:t>GPT-4o cheatsheets, flashcards, Mermaid.js diagrams</a:t>
            </a:r>
            <a:endParaRPr lang="en-US" sz="9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" y="2852928"/>
            <a:ext cx="219456" cy="21945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85800" y="2834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</a:rPr>
              <a:t>Azure Translator — 9 languages, live re-translation</a:t>
            </a:r>
            <a:endParaRPr lang="en-US" sz="9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35224" y="1170432"/>
            <a:ext cx="219456" cy="219456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3227832" y="115214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</a:rPr>
              <a:t>Azure AI Speech — Neural TTS toggle on all screens</a:t>
            </a:r>
            <a:endParaRPr lang="en-US" sz="95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35224" y="1591056"/>
            <a:ext cx="219456" cy="219456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3227832" y="15727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</a:rPr>
              <a:t>Azure Cosmos DB mastery dashboard + bar charts</a:t>
            </a:r>
            <a:endParaRPr lang="en-US" sz="950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35224" y="2011680"/>
            <a:ext cx="219456" cy="219456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3227832" y="199339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</a:rPr>
              <a:t>Azure Redis session context for smooth chat</a:t>
            </a:r>
            <a:endParaRPr lang="en-US" sz="950" dirty="0"/>
          </a:p>
        </p:txBody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35224" y="2432304"/>
            <a:ext cx="219456" cy="219456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3227832" y="241401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</a:rPr>
              <a:t>Progress reset + Azure App Service deployment</a:t>
            </a:r>
            <a:endParaRPr lang="en-US" sz="950" dirty="0"/>
          </a:p>
        </p:txBody>
      </p:sp>
      <p:sp>
        <p:nvSpPr>
          <p:cNvPr id="25" name="Shape 14"/>
          <p:cNvSpPr/>
          <p:nvPr/>
        </p:nvSpPr>
        <p:spPr>
          <a:xfrm>
            <a:off x="320040" y="3218688"/>
            <a:ext cx="502920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15"/>
          <p:cNvSpPr/>
          <p:nvPr/>
        </p:nvSpPr>
        <p:spPr>
          <a:xfrm>
            <a:off x="320040" y="32186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KNOWN LIMITATIONS</a:t>
            </a:r>
            <a:endParaRPr lang="en-US" sz="1000" dirty="0"/>
          </a:p>
        </p:txBody>
      </p:sp>
      <p:sp>
        <p:nvSpPr>
          <p:cNvPr id="27" name="Text 16"/>
          <p:cNvSpPr/>
          <p:nvPr/>
        </p:nvSpPr>
        <p:spPr>
          <a:xfrm>
            <a:off x="457200" y="353872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</a:rPr>
              <a:t>⚠  Chat history not persisted on frontend (Cosmos DB backend only)</a:t>
            </a:r>
            <a:endParaRPr lang="en-US" sz="950" dirty="0"/>
          </a:p>
        </p:txBody>
      </p:sp>
      <p:sp>
        <p:nvSpPr>
          <p:cNvPr id="28" name="Text 17"/>
          <p:cNvSpPr/>
          <p:nvPr/>
        </p:nvSpPr>
        <p:spPr>
          <a:xfrm>
            <a:off x="457200" y="383133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</a:rPr>
              <a:t>⚠  Azure Neural TTS capped at 500 chars/request — long answers truncated</a:t>
            </a:r>
            <a:endParaRPr lang="en-US" sz="950" dirty="0"/>
          </a:p>
        </p:txBody>
      </p:sp>
      <p:sp>
        <p:nvSpPr>
          <p:cNvPr id="29" name="Text 18"/>
          <p:cNvSpPr/>
          <p:nvPr/>
        </p:nvSpPr>
        <p:spPr>
          <a:xfrm>
            <a:off x="457200" y="412394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</a:rPr>
              <a:t>⚠  No user auth yet — Azure AD B2C integration planned for v1.1</a:t>
            </a:r>
            <a:endParaRPr lang="en-US" sz="950" dirty="0"/>
          </a:p>
        </p:txBody>
      </p:sp>
      <p:sp>
        <p:nvSpPr>
          <p:cNvPr id="30" name="Shape 19"/>
          <p:cNvSpPr/>
          <p:nvPr/>
        </p:nvSpPr>
        <p:spPr>
          <a:xfrm>
            <a:off x="5532120" y="749808"/>
            <a:ext cx="3337560" cy="4251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Text 20"/>
          <p:cNvSpPr/>
          <p:nvPr/>
        </p:nvSpPr>
        <p:spPr>
          <a:xfrm>
            <a:off x="5669280" y="8686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B8A6"/>
                </a:solidFill>
              </a:rPr>
              <a:t>ROADMAP</a:t>
            </a:r>
            <a:endParaRPr lang="en-US" sz="1000" dirty="0"/>
          </a:p>
        </p:txBody>
      </p:sp>
      <p:sp>
        <p:nvSpPr>
          <p:cNvPr id="32" name="Shape 21"/>
          <p:cNvSpPr/>
          <p:nvPr/>
        </p:nvSpPr>
        <p:spPr>
          <a:xfrm>
            <a:off x="5669280" y="1234440"/>
            <a:ext cx="594360" cy="2743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3" name="Text 22"/>
          <p:cNvSpPr/>
          <p:nvPr/>
        </p:nvSpPr>
        <p:spPr>
          <a:xfrm>
            <a:off x="5669280" y="123444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v1.1</a:t>
            </a:r>
            <a:endParaRPr lang="en-US" sz="900" dirty="0"/>
          </a:p>
        </p:txBody>
      </p:sp>
      <p:sp>
        <p:nvSpPr>
          <p:cNvPr id="34" name="Text 23"/>
          <p:cNvSpPr/>
          <p:nvPr/>
        </p:nvSpPr>
        <p:spPr>
          <a:xfrm>
            <a:off x="6355080" y="123444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Azure AD B2C + Multi-user</a:t>
            </a:r>
            <a:endParaRPr lang="en-US" sz="1050" dirty="0"/>
          </a:p>
        </p:txBody>
      </p:sp>
      <p:sp>
        <p:nvSpPr>
          <p:cNvPr id="35" name="Text 24"/>
          <p:cNvSpPr/>
          <p:nvPr/>
        </p:nvSpPr>
        <p:spPr>
          <a:xfrm>
            <a:off x="6355080" y="149047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Auth, user profiles, persistent history</a:t>
            </a:r>
            <a:endParaRPr lang="en-US" sz="900" dirty="0"/>
          </a:p>
        </p:txBody>
      </p:sp>
      <p:sp>
        <p:nvSpPr>
          <p:cNvPr id="36" name="Shape 25"/>
          <p:cNvSpPr/>
          <p:nvPr/>
        </p:nvSpPr>
        <p:spPr>
          <a:xfrm>
            <a:off x="5669280" y="1837944"/>
            <a:ext cx="594360" cy="2743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7" name="Text 26"/>
          <p:cNvSpPr/>
          <p:nvPr/>
        </p:nvSpPr>
        <p:spPr>
          <a:xfrm>
            <a:off x="5669280" y="183794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v1.2</a:t>
            </a:r>
            <a:endParaRPr lang="en-US" sz="900" dirty="0"/>
          </a:p>
        </p:txBody>
      </p:sp>
      <p:sp>
        <p:nvSpPr>
          <p:cNvPr id="38" name="Text 27"/>
          <p:cNvSpPr/>
          <p:nvPr/>
        </p:nvSpPr>
        <p:spPr>
          <a:xfrm>
            <a:off x="6355080" y="183794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Azure Video Indexer RAG</a:t>
            </a:r>
            <a:endParaRPr lang="en-US" sz="1050" dirty="0"/>
          </a:p>
        </p:txBody>
      </p:sp>
      <p:sp>
        <p:nvSpPr>
          <p:cNvPr id="39" name="Text 28"/>
          <p:cNvSpPr/>
          <p:nvPr/>
        </p:nvSpPr>
        <p:spPr>
          <a:xfrm>
            <a:off x="6355080" y="2093976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Multi-source: videos + books + PDFs</a:t>
            </a:r>
            <a:endParaRPr lang="en-US" sz="900" dirty="0"/>
          </a:p>
        </p:txBody>
      </p:sp>
      <p:sp>
        <p:nvSpPr>
          <p:cNvPr id="40" name="Shape 29"/>
          <p:cNvSpPr/>
          <p:nvPr/>
        </p:nvSpPr>
        <p:spPr>
          <a:xfrm>
            <a:off x="5669280" y="2441448"/>
            <a:ext cx="59436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5669280" y="244144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v1.3</a:t>
            </a:r>
            <a:endParaRPr lang="en-US" sz="900" dirty="0"/>
          </a:p>
        </p:txBody>
      </p:sp>
      <p:sp>
        <p:nvSpPr>
          <p:cNvPr id="42" name="Text 31"/>
          <p:cNvSpPr/>
          <p:nvPr/>
        </p:nvSpPr>
        <p:spPr>
          <a:xfrm>
            <a:off x="6355080" y="244144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Spaced Repetition (SM-2)</a:t>
            </a:r>
            <a:endParaRPr lang="en-US" sz="1050" dirty="0"/>
          </a:p>
        </p:txBody>
      </p:sp>
      <p:sp>
        <p:nvSpPr>
          <p:cNvPr id="43" name="Text 32"/>
          <p:cNvSpPr/>
          <p:nvPr/>
        </p:nvSpPr>
        <p:spPr>
          <a:xfrm>
            <a:off x="6355080" y="269748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Cosmos DB-backed flashcard scheduling</a:t>
            </a:r>
            <a:endParaRPr lang="en-US" sz="900" dirty="0"/>
          </a:p>
        </p:txBody>
      </p:sp>
      <p:sp>
        <p:nvSpPr>
          <p:cNvPr id="44" name="Shape 33"/>
          <p:cNvSpPr/>
          <p:nvPr/>
        </p:nvSpPr>
        <p:spPr>
          <a:xfrm>
            <a:off x="5669280" y="3044952"/>
            <a:ext cx="59436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5669280" y="3044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v2.0</a:t>
            </a:r>
            <a:endParaRPr lang="en-US" sz="900" dirty="0"/>
          </a:p>
        </p:txBody>
      </p:sp>
      <p:sp>
        <p:nvSpPr>
          <p:cNvPr id="46" name="Text 35"/>
          <p:cNvSpPr/>
          <p:nvPr/>
        </p:nvSpPr>
        <p:spPr>
          <a:xfrm>
            <a:off x="6355080" y="304495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AI Teacher Avatar (D-ID)</a:t>
            </a:r>
            <a:endParaRPr lang="en-US" sz="1050" dirty="0"/>
          </a:p>
        </p:txBody>
      </p:sp>
      <p:sp>
        <p:nvSpPr>
          <p:cNvPr id="47" name="Text 36"/>
          <p:cNvSpPr/>
          <p:nvPr/>
        </p:nvSpPr>
        <p:spPr>
          <a:xfrm>
            <a:off x="6355080" y="3300984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Azure + D-ID: explains concepts on demand</a:t>
            </a:r>
            <a:endParaRPr lang="en-US" sz="900" dirty="0"/>
          </a:p>
        </p:txBody>
      </p:sp>
      <p:sp>
        <p:nvSpPr>
          <p:cNvPr id="48" name="Shape 37"/>
          <p:cNvSpPr/>
          <p:nvPr/>
        </p:nvSpPr>
        <p:spPr>
          <a:xfrm>
            <a:off x="5669280" y="3648456"/>
            <a:ext cx="59436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38"/>
          <p:cNvSpPr/>
          <p:nvPr/>
        </p:nvSpPr>
        <p:spPr>
          <a:xfrm>
            <a:off x="5669280" y="364845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v2.1</a:t>
            </a:r>
            <a:endParaRPr lang="en-US" sz="900" dirty="0"/>
          </a:p>
        </p:txBody>
      </p:sp>
      <p:sp>
        <p:nvSpPr>
          <p:cNvPr id="50" name="Text 39"/>
          <p:cNvSpPr/>
          <p:nvPr/>
        </p:nvSpPr>
        <p:spPr>
          <a:xfrm>
            <a:off x="6355080" y="364845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Mobile App (Android/iOS)</a:t>
            </a:r>
            <a:endParaRPr lang="en-US" sz="1050" dirty="0"/>
          </a:p>
        </p:txBody>
      </p:sp>
      <p:sp>
        <p:nvSpPr>
          <p:cNvPr id="51" name="Text 40"/>
          <p:cNvSpPr/>
          <p:nvPr/>
        </p:nvSpPr>
        <p:spPr>
          <a:xfrm>
            <a:off x="6355080" y="390448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React Native Expo + Azure offline sync</a:t>
            </a:r>
            <a:endParaRPr lang="en-US" sz="900" dirty="0"/>
          </a:p>
        </p:txBody>
      </p:sp>
      <p:sp>
        <p:nvSpPr>
          <p:cNvPr id="52" name="Shape 41"/>
          <p:cNvSpPr/>
          <p:nvPr/>
        </p:nvSpPr>
        <p:spPr>
          <a:xfrm>
            <a:off x="5669280" y="4251960"/>
            <a:ext cx="59436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Text 42"/>
          <p:cNvSpPr/>
          <p:nvPr/>
        </p:nvSpPr>
        <p:spPr>
          <a:xfrm>
            <a:off x="5669280" y="425196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v2.2</a:t>
            </a:r>
            <a:endParaRPr lang="en-US" sz="900" dirty="0"/>
          </a:p>
        </p:txBody>
      </p:sp>
      <p:sp>
        <p:nvSpPr>
          <p:cNvPr id="54" name="Text 43"/>
          <p:cNvSpPr/>
          <p:nvPr/>
        </p:nvSpPr>
        <p:spPr>
          <a:xfrm>
            <a:off x="6355080" y="425196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Institution PYQ Engine</a:t>
            </a:r>
            <a:endParaRPr lang="en-US" sz="1050" dirty="0"/>
          </a:p>
        </p:txBody>
      </p:sp>
      <p:sp>
        <p:nvSpPr>
          <p:cNvPr id="55" name="Text 44"/>
          <p:cNvSpPr/>
          <p:nvPr/>
        </p:nvSpPr>
        <p:spPr>
          <a:xfrm>
            <a:off x="6355080" y="450799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RAG calibrated to university past papers</a:t>
            </a:r>
            <a:endParaRPr lang="en-US" sz="900" dirty="0"/>
          </a:p>
        </p:txBody>
      </p:sp>
      <p:sp>
        <p:nvSpPr>
          <p:cNvPr id="56" name="Shape 4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57" name="Text 4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Arcadia  ·  Powered by Microsoft Azure AI  ·  Team Echelon, MIT Manipal  ·  AI Unlocked 2025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Arcadia — Multimodal Adaptive Mastery Engine</dc:title>
  <dc:subject>PptxGenJS Presentation</dc:subject>
  <dc:creator>PptxGenJS</dc:creator>
  <cp:lastModifiedBy>PptxGenJS</cp:lastModifiedBy>
  <cp:revision>1</cp:revision>
  <dcterms:created xsi:type="dcterms:W3CDTF">2026-03-08T14:29:05Z</dcterms:created>
  <dcterms:modified xsi:type="dcterms:W3CDTF">2026-03-08T14:29:05Z</dcterms:modified>
</cp:coreProperties>
</file>